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 đầu. Giới thiệu tên đề tài và công nghệ sử dụng.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nhanh các phần chính của báo cáo.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vấn đề thực tế của chuỗi cửa hàng điện tử và lý do xây dựng hệ thống.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rõ mục tiêu cụ thể và phạm vi nghiên cứu của đề tài.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toàn bộ công nghệ được sử dụng trong dự 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Liệt kê 6 module chức năng chính của hệ thống với mức độ ưu tiên 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13 bảng trong CSDL với chuẩn hóa 3NF và các ràng buộc CHECK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tả kiến trúc 3 tầng rõ ràng: trình bày, nghiệp vụ, dữ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Sơ đồ luồng từ trình duyệt qua Flask, sidebar đến 5 màn hình chính và CSDL.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Màn hình Dashboard với sidebar, KPI cards và biểu đồ doanh thu.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hợp 4 module còn lại: Đơn hàng, Khách hàng, Sản phẩm, Báo cáo.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Cấu trúc thư mục sau khi chạy setup_flask.py và toàn bộ Flask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bước triển khai và kết quả kiểm thử các test case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tắt kết quả, hạn chế và lộ trình phát triển.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kết luận. Cảm ơn hội đồng. Mở phần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E5FA3">
              <a:alpha val="35000"/>
            </a:srgbClr>
          </a:solidFill>
          <a:ln w="12700">
            <a:solidFill>
              <a:srgbClr val="2E5FA3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365760"/>
            <a:ext cx="2560320" cy="256032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ĐỒ ÁN MÔN HỌC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altLang="en-US" sz="5200" dirty="0">
                <a:solidFill>
                  <a:schemeClr val="bg1"/>
                </a:solidFill>
              </a:rPr>
              <a:t>T1 Base </a:t>
            </a:r>
            <a:r>
              <a:rPr lang="vi-VN" altLang="en-US" sz="5200" dirty="0">
                <a:solidFill>
                  <a:schemeClr val="bg1"/>
                </a:solidFill>
              </a:rPr>
              <a:t>Camp</a:t>
            </a:r>
            <a:endParaRPr lang="vi-VN" altLang="en-US" sz="5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thống Quản lý Bán hàng Chuỗi Cửa hàng Điện tử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20040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Công nghệ: </a:t>
            </a: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Flask · SQL Server · HTML/CSS/JavaScript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Năm học 202</a:t>
            </a:r>
            <a:r>
              <a:rPr lang="vi-VN" alt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202</a:t>
            </a:r>
            <a:r>
              <a:rPr lang="vi-VN" altLang="en-US" sz="12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vi-VN" altLang="en-US" sz="1200" dirty="0">
              <a:solidFill>
                <a:srgbClr val="8899A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NỘI DUNG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BÁO CÁO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44805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altLang="en-US" sz="1100" dirty="0">
                <a:solidFill>
                  <a:schemeClr val="bg1">
                    <a:lumMod val="95000"/>
                  </a:schemeClr>
                </a:solidFill>
              </a:rPr>
              <a:t>T1 Base Camp</a:t>
            </a:r>
            <a:endParaRPr lang="vi-VN" alt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0" y="32004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10128" y="38404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0128" y="384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0" y="365760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Tổng quan đề tài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886968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9509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950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932688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yêu cầu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453896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51790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5179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1499616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Thiết kế cơ sở dữ liệu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2020824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0128" y="208483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0848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2066544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Kiến trúc hệ thống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2587752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2651760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6517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633472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Giao diện người dùng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2186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2186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9040" y="3200400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Backend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3721608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0128" y="378561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785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3767328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Triển khai &amp; Kiểm thử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0" y="4288536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10128" y="43525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435254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4334256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&amp; Kết luận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Chương 1 · Tổng quan đề tài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 phân tán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468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thủ công, thiếu đồng bộ giữa các chi nhánh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8016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Tồn kho kém chính xác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176272"/>
            <a:ext cx="2468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Thừa hoặc thiếu hàng, không có cảnh báo tự động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28016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Thiếu báo cáo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176272"/>
            <a:ext cx="2468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Không có số liệu tổng hợp để hỗ trợ ra quyết định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Giải pháp đề xuất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66160"/>
            <a:ext cx="804672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hệ thống "</a:t>
            </a:r>
            <a:r>
              <a:rPr lang="vi-VN" alt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 Base Camp</a:t>
            </a:r>
            <a:r>
              <a:rPr lang="en-US" sz="13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 – ứng dụng web quản lý bán hàng toàn diện cho chuỗi cửa hàng điện tử: tích hợp quản lý sản phẩm, đơn hàng, khách hàng, kho hàng và báo cáo tài chính trên một nền tảng thống nhất.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Mục tiêu &amp; Phạm vi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4F6FA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Mục tiêu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73352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Thiết kế CSDL quan hệ SQL Server đa chi nhánh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3113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85416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giao diện web 5 module chính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74320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697480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triển REST API bằng Python Flask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25526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09544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thống báo cáo trực quan theo thời gian thực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6732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721608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Triển khai và kiểm thử toàn diện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4F6FA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 Phạm vi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56048" y="1719072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1673352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Chuỗi cửa hàng điện tử quy mô vừa &amp; nhỏ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56048" y="2231136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2185416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sản phẩm, đơn hàng, khách hàng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56048" y="2743200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697480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kho và điều chuyển hàng hóa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56048" y="3255264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209544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thống khuyến mãi và tích điểm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56048" y="3767328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3721608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 doanh thu và lợi nhuận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Công nghệ sử dụng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kỹ thuật của hệ thống </a:t>
            </a:r>
            <a:r>
              <a:rPr lang="vi-VN" alt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 base Cam</a:t>
            </a:r>
            <a:r>
              <a:rPr lang="vi-VN" alt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vi-VN" altLang="en-US" sz="13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36192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Flask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36192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202996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35915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Cơ sở dữ liệu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36192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202996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pyodbc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35915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nối CSDL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64992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/ CSS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Giao diện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364992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385876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18795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logic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2004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364992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3858768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Jinja2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418795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 Engine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Chương 2 · Phân tích yêu cầu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0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0759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764792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12264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KPI, biểu đồ DT, cảnh báo kho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0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30759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54680" y="1764792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Đơn hàng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112264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Tạo, theo dõi, cập nhật trạng thái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0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30759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1764792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Khách hàng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112264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CRUD, hạng thành viên, điểm tích lũy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0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18211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3639312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Sản phẩm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986784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Danh mục, giá bán, tồn kho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0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318211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54680" y="3639312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Kho hàng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986784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Nhập kho, điều chuyển chi nhánh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0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318211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89320" y="3639312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3986784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Doanh thu, lợi nhuận, top SP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Chương 2 · Thiết kế cơ sở dữ liệu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371600" cy="137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74520" y="1188720"/>
            <a:ext cx="20116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Bảng dữ liệu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111556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11556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chi_nhanh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85232" y="111556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111556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san_pham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47104" y="111556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111556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danh_muc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808976" y="111556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8976" y="111556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thuong_hieu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0" y="175564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75564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khach_hang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85232" y="175564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75564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nhan_vien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47104" y="175564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175564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don_hang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08976" y="175564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08976" y="175564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chi_tiet_don_hang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0" y="239572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39572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ton_kho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85232" y="239572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39572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khuyen_mai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47104" y="239572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39572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nha_cung_cap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08976" y="239572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239572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phieu_nhap_kho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0" y="303580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303580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dieu_chuyen_kho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Chuẩn hóa 3NF · Windows Authentication · ODBC Driver 17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5760" y="32004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Ràng buộc chính: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4048" y="3630168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584448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hang_thanh_vien: dong / bac / vang / kim_cuong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4048" y="4041648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995928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trang_thai đơn: cho_xac_nhan → hoan_thanh / da_huy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4048" y="4453128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407408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hinh_thuc_tt: tien_mat / chuyen_khoan / vi_dien_tu ...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Kiến trúc hệ thống 3 tầng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822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25272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Tầng trình bày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18488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32588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344168"/>
            <a:ext cx="30175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· CSS · JavaScript · Jinja2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23160"/>
            <a:ext cx="822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253288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Tầng nghiệp vụ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898648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6060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624328"/>
            <a:ext cx="30175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Flask · REST API · pyodbc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03320"/>
            <a:ext cx="822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381304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Tầng dữ liệu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178808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8862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3904488"/>
            <a:ext cx="30175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 · 13 Tables · Windows Auth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2194560"/>
            <a:ext cx="0" cy="22860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474720"/>
            <a:ext cx="0" cy="22860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Sơ đồ điều hướng các màn hình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105156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F4F6FA"/>
          </a:solidFill>
          <a:ln w="12700">
            <a:solidFill>
              <a:srgbClr val="C0C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51560"/>
            <a:ext cx="2743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Trình duyệt web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527048"/>
            <a:ext cx="0" cy="34747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874520"/>
            <a:ext cx="3291840" cy="475488"/>
          </a:xfrm>
          <a:prstGeom prst="roundRect">
            <a:avLst>
              <a:gd name="adj" fmla="val 19231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874520"/>
            <a:ext cx="3291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Flask Server (app.py)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350008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67004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670048"/>
            <a:ext cx="3840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🗂️  Sidebar điều hướng (dùng chung)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145536"/>
            <a:ext cx="4544568" cy="438912"/>
          </a:xfrm>
          <a:prstGeom prst="line">
            <a:avLst/>
          </a:prstGeom>
          <a:noFill/>
          <a:ln w="12700">
            <a:solidFill>
              <a:srgbClr val="BBCC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584448"/>
            <a:ext cx="1481328" cy="804672"/>
          </a:xfrm>
          <a:prstGeom prst="roundRect">
            <a:avLst>
              <a:gd name="adj" fmla="val 11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" y="3584448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3145536"/>
            <a:ext cx="4341571" cy="438912"/>
          </a:xfrm>
          <a:prstGeom prst="line">
            <a:avLst/>
          </a:prstGeom>
          <a:noFill/>
          <a:ln w="12700">
            <a:solidFill>
              <a:srgbClr val="BBCC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3584448"/>
            <a:ext cx="1481328" cy="804672"/>
          </a:xfrm>
          <a:prstGeom prst="roundRect">
            <a:avLst>
              <a:gd name="adj" fmla="val 11364"/>
            </a:avLst>
          </a:prstGeom>
          <a:solidFill>
            <a:srgbClr val="1F6AA8"/>
          </a:solidFill>
          <a:ln w="12700">
            <a:solidFill>
              <a:srgbClr val="1F6AA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20240" y="3584448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Đơn hàng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3145536"/>
            <a:ext cx="4138574" cy="438912"/>
          </a:xfrm>
          <a:prstGeom prst="line">
            <a:avLst/>
          </a:prstGeom>
          <a:noFill/>
          <a:ln w="12700">
            <a:solidFill>
              <a:srgbClr val="BBCC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3584448"/>
            <a:ext cx="1481328" cy="804672"/>
          </a:xfrm>
          <a:prstGeom prst="roundRect">
            <a:avLst>
              <a:gd name="adj" fmla="val 11364"/>
            </a:avLst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11880" y="3584448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Khách hàng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/customers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145536"/>
            <a:ext cx="3935578" cy="438912"/>
          </a:xfrm>
          <a:prstGeom prst="line">
            <a:avLst/>
          </a:prstGeom>
          <a:noFill/>
          <a:ln w="12700">
            <a:solidFill>
              <a:srgbClr val="BBCC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584448"/>
            <a:ext cx="1481328" cy="804672"/>
          </a:xfrm>
          <a:prstGeom prst="roundRect">
            <a:avLst>
              <a:gd name="adj" fmla="val 1136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3584448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Sản phẩm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/products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145536"/>
            <a:ext cx="3732581" cy="438912"/>
          </a:xfrm>
          <a:prstGeom prst="line">
            <a:avLst/>
          </a:prstGeom>
          <a:noFill/>
          <a:ln w="12700">
            <a:solidFill>
              <a:srgbClr val="BBCC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3584448"/>
            <a:ext cx="1481328" cy="804672"/>
          </a:xfrm>
          <a:prstGeom prst="roundRect">
            <a:avLst>
              <a:gd name="adj" fmla="val 11364"/>
            </a:avLst>
          </a:prstGeom>
          <a:solidFill>
            <a:srgbClr val="B8510A"/>
          </a:solidFill>
          <a:ln w="12700">
            <a:solidFill>
              <a:srgbClr val="B8510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3584448"/>
            <a:ext cx="148132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/reports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4F6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🗄️  SQL Server · QuanLyBanHang · 13 bảng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Chương 3 · Giao diện: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79576"/>
            <a:ext cx="182880" cy="18288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179576"/>
            <a:ext cx="182880" cy="18288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179576"/>
            <a:ext cx="182880" cy="18288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152144"/>
            <a:ext cx="45720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152144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http://127.0.0.1:5000/dashboard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1188720" cy="3364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118872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🏠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📦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👥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029968"/>
            <a:ext cx="1152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2596896"/>
            <a:ext cx="1152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Đơn hàng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3163824"/>
            <a:ext cx="1152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Khách hàng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3730752"/>
            <a:ext cx="1152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Sản phẩm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4297680"/>
            <a:ext cx="11521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19072" y="157276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8F4F8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19072" y="1591056"/>
            <a:ext cx="5486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21992" y="1609344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45.2M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21992" y="1938528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Doanh thu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56432" y="157276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EF9E7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56432" y="1591056"/>
            <a:ext cx="5486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59352" y="1609344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59352" y="1938528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Đơn hàng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93792" y="157276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AF8EA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93792" y="1591056"/>
            <a:ext cx="5486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96712" y="1609344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96712" y="1938528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Khách mới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31152" y="157276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EF0E6"/>
          </a:solidFill>
          <a:ln w="12700">
            <a:solidFill>
              <a:srgbClr val="E0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31152" y="1591056"/>
            <a:ext cx="5486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34072" y="1609344"/>
            <a:ext cx="1005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SP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34072" y="1938528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Sắp hết kho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19072" y="251460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19072" y="31546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Biểu đồ doanh thu 7 ngày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514600"/>
            <a:ext cx="224028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606040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 Đơn gần đây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944368"/>
            <a:ext cx="2057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DH-001 ✅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3310128"/>
            <a:ext cx="2057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DH-002 🔄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92240" y="3675888"/>
            <a:ext cx="2057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DH-003 ⏳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Các module giao diện chính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11680" cy="7498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Đơn hàng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" y="2011680"/>
            <a:ext cx="128016" cy="128016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956816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Danh sách + tìm kiếm/lọc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" y="2505456"/>
            <a:ext cx="128016" cy="128016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450592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Lọc theo trạng thái đơn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" y="2999232"/>
            <a:ext cx="128016" cy="128016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944368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Xem chi tiết đơn hàng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" y="3493008"/>
            <a:ext cx="128016" cy="128016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438144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Cập nhật trạng thái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96312" y="109728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097280"/>
            <a:ext cx="20116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11556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96312" y="1444752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Khách hàng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4328" y="201168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5496" y="1956816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Danh sách &amp; hạng thành viên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24328" y="2505456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25496" y="2450592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Điểm tích lũy (Đồng/Bạc/Vàng/Kim)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24328" y="299923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25496" y="2944368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Lịch sử mua hàng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24328" y="3493008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25496" y="3438144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Thêm / sửa thông tin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72584" y="109728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1097280"/>
            <a:ext cx="2011680" cy="749808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111556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72584" y="1444752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Sản phẩm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2011680"/>
            <a:ext cx="128016" cy="128016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1956816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 danh mục &amp; thương hiệu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505456"/>
            <a:ext cx="128016" cy="128016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2450592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Giá nhập / giá bán / margin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999232"/>
            <a:ext cx="128016" cy="128016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2944368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Tồn kho theo chi nhánh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493008"/>
            <a:ext cx="128016" cy="128016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3438144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Cảnh báo hàng sắp hết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48856" y="109728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D8E4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48856" y="1097280"/>
            <a:ext cx="2011680" cy="749808"/>
          </a:xfrm>
          <a:prstGeom prst="rect">
            <a:avLst/>
          </a:prstGeom>
          <a:solidFill>
            <a:srgbClr val="B8510A"/>
          </a:solidFill>
          <a:ln w="12700">
            <a:solidFill>
              <a:srgbClr val="B851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8856" y="111556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48856" y="1444752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76872" y="2011680"/>
            <a:ext cx="128016" cy="128016"/>
          </a:xfrm>
          <a:prstGeom prst="ellipse">
            <a:avLst/>
          </a:prstGeom>
          <a:solidFill>
            <a:srgbClr val="B8510A"/>
          </a:solidFill>
          <a:ln w="12700">
            <a:solidFill>
              <a:srgbClr val="B851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1956816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DT theo thời gian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76872" y="2505456"/>
            <a:ext cx="128016" cy="128016"/>
          </a:xfrm>
          <a:prstGeom prst="ellipse">
            <a:avLst/>
          </a:prstGeom>
          <a:solidFill>
            <a:srgbClr val="B8510A"/>
          </a:solidFill>
          <a:ln w="12700">
            <a:solidFill>
              <a:srgbClr val="B851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2450592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sản phẩm bán chạy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76872" y="2999232"/>
            <a:ext cx="128016" cy="128016"/>
          </a:xfrm>
          <a:prstGeom prst="ellipse">
            <a:avLst/>
          </a:prstGeom>
          <a:solidFill>
            <a:srgbClr val="B8510A"/>
          </a:solidFill>
          <a:ln w="12700">
            <a:solidFill>
              <a:srgbClr val="B851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2944368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lợi nhuận gộp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76872" y="3493008"/>
            <a:ext cx="128016" cy="128016"/>
          </a:xfrm>
          <a:prstGeom prst="ellipse">
            <a:avLst/>
          </a:prstGeom>
          <a:solidFill>
            <a:srgbClr val="B8510A"/>
          </a:solidFill>
          <a:ln w="12700">
            <a:solidFill>
              <a:srgbClr val="B851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3438144"/>
            <a:ext cx="15727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Khách hàng VIP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B30"/>
          </a:solidFill>
          <a:ln w="12700">
            <a:solidFill>
              <a:srgbClr val="111B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Chương 3 · Xây dựng Backend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749040"/>
          </a:xfrm>
          <a:prstGeom prst="roundRect">
            <a:avLst>
              <a:gd name="adj" fmla="val 2439"/>
            </a:avLst>
          </a:prstGeom>
          <a:solidFill>
            <a:srgbClr val="0E1525"/>
          </a:solidFill>
          <a:ln w="12700">
            <a:solidFill>
              <a:srgbClr val="25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 Cấu trúc thư mục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627632"/>
            <a:ext cx="356616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Hoa_PR/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app.py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requirements.txt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setup_flask.py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templates/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dashboard.html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orders.html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└── static/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├── styles.css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└── app.js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80560" y="1097280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Routes &amp;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55448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30368" y="155448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67728" y="1554480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066544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66544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0368" y="2066544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/orders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67728" y="2066544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Đơn hàng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578608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578608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30368" y="257860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/customers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67728" y="2578608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Khách hàng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090672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090672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30368" y="3090672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/products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67728" y="3090672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Sản phẩm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3602736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60273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3602736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/reports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67728" y="3602736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Báo cáo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411480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11480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411480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/api/san-pham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67728" y="4114800"/>
            <a:ext cx="1920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API JSON sản phẩm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Chương 4 · Triển khai &amp; Kiểm thử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34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Khởi tạo CSDL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737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Chạy database_mssql.sql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trên SQL Server SSMS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103120"/>
            <a:ext cx="201168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14300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7248" y="123444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234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87168" y="19385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Cài đặt Python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286000"/>
            <a:ext cx="1737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 install -r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07408" y="2103120"/>
            <a:ext cx="201168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14300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48656" y="123444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1234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08576" y="19385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Chạy setup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286000"/>
            <a:ext cx="1737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setup_flask.py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(tổ chức thư mục)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28816" y="2103120"/>
            <a:ext cx="201168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114300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B8510A"/>
          </a:solidFill>
          <a:ln w="12700">
            <a:solidFill>
              <a:srgbClr val="B8510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70064" y="123444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234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9984" y="1938528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Khởi động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21424" y="2286000"/>
            <a:ext cx="1737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app.py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:5000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kiểm thử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11880"/>
            <a:ext cx="6949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nối SQL Server (ODBC 17 + fallback)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0" y="3611880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886200"/>
            <a:ext cx="6949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đúng 5 trang HTML (Flask routes)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0" y="3886200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160520"/>
            <a:ext cx="6949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/api/san-pham trả về JSON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0" y="4160520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434840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434840"/>
            <a:ext cx="6949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Tài nguyên tĩnh phục vụ qua /static/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98080" y="4434840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709160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F4F6FA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Xử lý lỗi CSDL không khả dụng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98080" y="4709160"/>
            <a:ext cx="1097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Chương 5 · Kết quả đạt được &amp; Hạn chế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463040" cy="1463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Bảng CSDL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463040" cy="14630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972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463040" cy="1463040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972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463040" cy="14630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972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9202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PASS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Hạn chế hiện tại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3127248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8152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có xác thực / phân quyền người dùng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511296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6557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 giao diện còn tĩnh (chưa full API)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895344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4962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in hóa đơn / xuất Excel-PDF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4279392"/>
            <a:ext cx="146304" cy="1463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3367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hỗ trợ mobile responsive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6974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Hướng phát triển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12724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081528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Tích hợp đầy đủ API động từ SQL Server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3511296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46557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RBAC đăng nhập &amp; phân quyền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389534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849624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Xuất báo cáo PDF/Excel (ReportLab)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427939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423367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Triển khai Azure SQL + App Service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457200"/>
            <a:ext cx="3657600" cy="3657600"/>
          </a:xfrm>
          <a:prstGeom prst="ellipse">
            <a:avLst/>
          </a:prstGeom>
          <a:solidFill>
            <a:srgbClr val="2E5FA3">
              <a:alpha val="25000"/>
            </a:srgbClr>
          </a:solidFill>
          <a:ln w="12700">
            <a:solidFill>
              <a:srgbClr val="2E5FA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luận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altLang="en-US" sz="4400" dirty="0">
                <a:solidFill>
                  <a:schemeClr val="bg1">
                    <a:lumMod val="9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T1 base Camp</a:t>
            </a:r>
            <a:endParaRPr lang="vi-VN" altLang="en-US" sz="4400" dirty="0">
              <a:solidFill>
                <a:schemeClr val="bg1">
                  <a:lumMod val="9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20040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6858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Dự án đã chứng minh tính khả thi của việc xây dựng hệ thống quản lý bán hàng toàn diện bằng Python Flask, SQL Server và HTML/CSS/JS — tạo nền tảng vững chắc cho ứng dụng thực tế.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2044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Flask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2848" y="352044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352044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77056" y="352044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352044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41264" y="352044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352044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05472" y="352044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352044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Tables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Xin cảm ơn quý thầy/cô và hội đồng phản biện!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Câu hỏi &amp; Thảo luận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4731</Words>
  <Application>WPS Presentation</Application>
  <PresentationFormat>On-screen Show (16:9)</PresentationFormat>
  <Paragraphs>537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ĐiệnViệt Pro – Hệ thống Quản lý Bán hàng</dc:title>
  <dc:creator>PptxGenJS</dc:creator>
  <dc:subject>PptxGenJS Presentation</dc:subject>
  <cp:lastModifiedBy>Đình Hòa</cp:lastModifiedBy>
  <cp:revision>2</cp:revision>
  <dcterms:created xsi:type="dcterms:W3CDTF">2026-06-17T01:16:00Z</dcterms:created>
  <dcterms:modified xsi:type="dcterms:W3CDTF">2026-06-18T15:31:36Z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2D0F5EEF37E54898A9C0F6C43D9FF89E_12</vt:lpwstr>
  </property>
</Properties>
</file>